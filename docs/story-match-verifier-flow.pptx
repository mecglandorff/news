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Story Match Verification Flow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0">
                <a:solidFill>
                  <a:srgbClr val="475569"/>
                </a:solidFill>
              </a:rPr>
              <a:t>Exact current pipeline when running python -m src.run --verify-story-matches --pipeline-report</a:t>
            </a:r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000" b="1">
                <a:solidFill>
                  <a:srgbClr val="111827"/>
                </a:solidFill>
              </a:rPr>
              <a:t>Purpose: stop adjacent-topic false merges before they corrupt durable story memory.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77240" y="2331720"/>
            <a:ext cx="329184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B45309"/>
                </a:solidFill>
              </a:rPr>
              <a:t>The failure we fixed for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Detention-abuse article was placed under Gaza flotilla raid.</a:t>
            </a:r>
            <a:endParaRPr lang="en-US" sz="1050"/>
          </a:p>
        </p:txBody>
      </p:sp>
      <p:sp>
        <p:nvSpPr>
          <p:cNvPr id="6" name="TextBox 6"/>
          <p:cNvSpPr txBox="1"/>
          <p:nvPr/>
        </p:nvSpPr>
        <p:spPr>
          <a:xfrm>
            <a:off x="4434840" y="2331720"/>
            <a:ext cx="329184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</a:rPr>
              <a:t>The new gate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Full-text continuity verifier checks candidate story reuse.</a:t>
            </a:r>
            <a:endParaRPr lang="en-US" sz="1050"/>
          </a:p>
        </p:txBody>
      </p:sp>
      <p:sp>
        <p:nvSpPr>
          <p:cNvPr id="7" name="TextBox 7"/>
          <p:cNvSpPr txBox="1"/>
          <p:nvPr/>
        </p:nvSpPr>
        <p:spPr>
          <a:xfrm>
            <a:off x="8092440" y="2331720"/>
            <a:ext cx="32918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The invariant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Reuse story_id only with concrete same-event evidence.</a:t>
            </a:r>
            <a:endParaRPr lang="en-US" sz="1050"/>
          </a:p>
        </p:txBody>
      </p:sp>
      <p:sp>
        <p:nvSpPr>
          <p:cNvPr id="8" name="TextBox 8"/>
          <p:cNvSpPr txBox="1"/>
          <p:nvPr/>
        </p:nvSpPr>
        <p:spPr>
          <a:xfrm>
            <a:off x="777240" y="388620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700" b="1">
                <a:solidFill>
                  <a:srgbClr val="1F4E79"/>
                </a:solidFill>
              </a:rPr>
              <a:t>Key distinction:</a:t>
            </a:r>
            <a:endParaRPr lang="en-US" sz="1700"/>
          </a:p>
          <a:p>
            <a:pPr marL="0" indent="0">
              <a:buNone/>
            </a:pPr>
            <a:r>
              <a:rPr lang="en-US" sz="1600" b="0">
                <a:solidFill>
                  <a:srgbClr val="111827"/>
                </a:solidFill>
              </a:rPr>
              <a:t>Related big-picture context can be useful for briefing, but it must not be persisted as the same tracked event unless it directly continues that event.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Executive Summary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10972800" cy="4297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1. Scrape and classify articles as before.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2. Same-day labels are consolidated by the tracker model.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3. Cross-day matcher proposes at most one recent canonical story per today label.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4. With --verify-story-matches, each proposed reuse is verified by gpt-5.4-nano using current article text and recent story memory.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5. The verifier must return structured JSON. Weak, adjacent, missing, malformed, or uncertain decisions become NEW.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rgbClr val="111827"/>
                </a:solidFill>
              </a:rPr>
              <a:t>6. Accepted/rejected decisions are stored in story_match_decisions and counted in --pipeline-report.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End-to-End Runtime Flow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0">
                <a:solidFill>
                  <a:srgbClr val="475569"/>
                </a:solidFill>
              </a:rPr>
              <a:t>What happens in src.run.run_pipeline() and src.tracker.track().</a:t>
            </a:r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320040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RSS scrape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src.scraper
feeds + optional full text</a:t>
            </a:r>
            <a:endParaRPr lang="en-US" sz="1050"/>
          </a:p>
        </p:txBody>
      </p:sp>
      <p:sp>
        <p:nvSpPr>
          <p:cNvPr id="5" name="TextBox 5"/>
          <p:cNvSpPr txBox="1"/>
          <p:nvPr/>
        </p:nvSpPr>
        <p:spPr>
          <a:xfrm>
            <a:off x="2148840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Classify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gpt-5.4-mini
theme, label, importance</a:t>
            </a:r>
            <a:endParaRPr lang="en-US" sz="1050"/>
          </a:p>
        </p:txBody>
      </p:sp>
      <p:sp>
        <p:nvSpPr>
          <p:cNvPr id="6" name="TextBox 6"/>
          <p:cNvSpPr txBox="1"/>
          <p:nvPr/>
        </p:nvSpPr>
        <p:spPr>
          <a:xfrm>
            <a:off x="3977639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Group today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raw_groups by
story_label</a:t>
            </a:r>
            <a:endParaRPr lang="en-US" sz="1050"/>
          </a:p>
        </p:txBody>
      </p:sp>
      <p:sp>
        <p:nvSpPr>
          <p:cNvPr id="7" name="TextBox 7"/>
          <p:cNvSpPr txBox="1"/>
          <p:nvPr/>
        </p:nvSpPr>
        <p:spPr>
          <a:xfrm>
            <a:off x="5806440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Consolidate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gpt-5.5
same-day groups</a:t>
            </a:r>
            <a:endParaRPr lang="en-US" sz="1050"/>
          </a:p>
        </p:txBody>
      </p:sp>
      <p:sp>
        <p:nvSpPr>
          <p:cNvPr id="8" name="TextBox 8"/>
          <p:cNvSpPr txBox="1"/>
          <p:nvPr/>
        </p:nvSpPr>
        <p:spPr>
          <a:xfrm>
            <a:off x="7635240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Base match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gpt-5.5
recent candidates</a:t>
            </a:r>
            <a:endParaRPr lang="en-US" sz="1050"/>
          </a:p>
        </p:txBody>
      </p:sp>
      <p:sp>
        <p:nvSpPr>
          <p:cNvPr id="9" name="TextBox 9"/>
          <p:cNvSpPr txBox="1"/>
          <p:nvPr/>
        </p:nvSpPr>
        <p:spPr>
          <a:xfrm>
            <a:off x="9464040" y="1280160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Verify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gpt-5.4-nano
full-text continuity</a:t>
            </a:r>
            <a:endParaRPr lang="en-US" sz="1050"/>
          </a:p>
        </p:txBody>
      </p:sp>
      <p:cxnSp>
        <p:nvCxnSpPr>
          <p:cNvPr id="10" name="Arrow 10"/>
          <p:cNvCxnSpPr/>
          <p:nvPr/>
        </p:nvCxnSpPr>
        <p:spPr>
          <a:xfrm>
            <a:off x="1737360" y="1810512"/>
            <a:ext cx="41148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11" name="Arrow 11"/>
          <p:cNvCxnSpPr/>
          <p:nvPr/>
        </p:nvCxnSpPr>
        <p:spPr>
          <a:xfrm>
            <a:off x="3566160" y="1810512"/>
            <a:ext cx="411479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12" name="Arrow 12"/>
          <p:cNvCxnSpPr/>
          <p:nvPr/>
        </p:nvCxnSpPr>
        <p:spPr>
          <a:xfrm>
            <a:off x="5394959" y="1810512"/>
            <a:ext cx="41148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13" name="Arrow 13"/>
          <p:cNvCxnSpPr/>
          <p:nvPr/>
        </p:nvCxnSpPr>
        <p:spPr>
          <a:xfrm>
            <a:off x="7223759" y="1810512"/>
            <a:ext cx="41148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14" name="Arrow 14"/>
          <p:cNvCxnSpPr/>
          <p:nvPr/>
        </p:nvCxnSpPr>
        <p:spPr>
          <a:xfrm>
            <a:off x="9052560" y="1810512"/>
            <a:ext cx="411479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sp>
        <p:nvSpPr>
          <p:cNvPr id="15" name="TextBox 15"/>
          <p:cNvSpPr txBox="1"/>
          <p:nvPr/>
        </p:nvSpPr>
        <p:spPr>
          <a:xfrm>
            <a:off x="1828800" y="3200400"/>
            <a:ext cx="192024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</a:rPr>
              <a:t>If accepted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Reuse existing story_id</a:t>
            </a:r>
            <a:endParaRPr lang="en-US" sz="1050"/>
          </a:p>
        </p:txBody>
      </p:sp>
      <p:sp>
        <p:nvSpPr>
          <p:cNvPr id="16" name="TextBox 16"/>
          <p:cNvSpPr txBox="1"/>
          <p:nvPr/>
        </p:nvSpPr>
        <p:spPr>
          <a:xfrm>
            <a:off x="5074920" y="3200400"/>
            <a:ext cx="192024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B42318"/>
                </a:solidFill>
              </a:rPr>
              <a:t>If rejected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Create/find separate story</a:t>
            </a:r>
            <a:endParaRPr lang="en-US" sz="1050"/>
          </a:p>
        </p:txBody>
      </p:sp>
      <p:sp>
        <p:nvSpPr>
          <p:cNvPr id="17" name="TextBox 17"/>
          <p:cNvSpPr txBox="1"/>
          <p:nvPr/>
        </p:nvSpPr>
        <p:spPr>
          <a:xfrm>
            <a:off x="8275320" y="3200400"/>
            <a:ext cx="21488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Always audit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story_match_decisions
+ report counts</a:t>
            </a:r>
            <a:endParaRPr lang="en-US" sz="1050"/>
          </a:p>
        </p:txBody>
      </p:sp>
      <p:cxnSp>
        <p:nvCxnSpPr>
          <p:cNvPr id="18" name="Arrow 18"/>
          <p:cNvCxnSpPr/>
          <p:nvPr/>
        </p:nvCxnSpPr>
        <p:spPr>
          <a:xfrm flipH="1">
            <a:off x="2788920" y="2331720"/>
            <a:ext cx="7360920" cy="868680"/>
          </a:xfrm>
          <a:prstGeom prst="straightConnector1">
            <a:avLst/>
          </a:prstGeom>
          <a:ln w="25400">
            <a:solidFill>
              <a:srgbClr val="2E7D32"/>
            </a:solidFill>
            <a:headEnd type="triangle"/>
          </a:ln>
        </p:spPr>
      </p:cxnSp>
      <p:cxnSp>
        <p:nvCxnSpPr>
          <p:cNvPr id="19" name="Arrow 19"/>
          <p:cNvCxnSpPr/>
          <p:nvPr/>
        </p:nvCxnSpPr>
        <p:spPr>
          <a:xfrm flipH="1">
            <a:off x="6035040" y="2331720"/>
            <a:ext cx="4114800" cy="868680"/>
          </a:xfrm>
          <a:prstGeom prst="straightConnector1">
            <a:avLst/>
          </a:prstGeom>
          <a:ln w="25400">
            <a:solidFill>
              <a:srgbClr val="B42318"/>
            </a:solidFill>
            <a:headEnd type="triangle"/>
          </a:ln>
        </p:spPr>
      </p:cxnSp>
      <p:cxnSp>
        <p:nvCxnSpPr>
          <p:cNvPr id="20" name="Arrow 20"/>
          <p:cNvCxnSpPr/>
          <p:nvPr/>
        </p:nvCxnSpPr>
        <p:spPr>
          <a:xfrm flipH="1">
            <a:off x="9326880" y="2331720"/>
            <a:ext cx="822960" cy="868680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sp>
        <p:nvSpPr>
          <p:cNvPr id="21" name="TextBox 21"/>
          <p:cNvSpPr txBox="1"/>
          <p:nvPr/>
        </p:nvSpPr>
        <p:spPr>
          <a:xfrm>
            <a:off x="594360" y="48920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500" b="1">
                <a:solidFill>
                  <a:srgbClr val="B45309"/>
                </a:solidFill>
              </a:rPr>
              <a:t>Important: --show-evidence is not involved. Claim extraction is separate and only runs when explicitly requested.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What Is Sent To The Base Cross-Day Matcher?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0">
                <a:solidFill>
                  <a:srgbClr val="475569"/>
                </a:solidFill>
              </a:rPr>
              <a:t>This is the cheaper gpt-5.5 proposal step before the verifier.</a:t>
            </a:r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594360" y="1097280"/>
            <a:ext cx="32004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Input: today labels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Set of consolidated labels from today, e.g. Israel Detention Abuse</a:t>
            </a:r>
            <a:endParaRPr lang="en-US" sz="1050"/>
          </a:p>
        </p:txBody>
      </p:sp>
      <p:sp>
        <p:nvSpPr>
          <p:cNvPr id="5" name="TextBox 5"/>
          <p:cNvSpPr txBox="1"/>
          <p:nvPr/>
        </p:nvSpPr>
        <p:spPr>
          <a:xfrm>
            <a:off x="4480560" y="1097280"/>
            <a:ext cx="32004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Input: recent memory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Recent story options from SQLite within lookback window</a:t>
            </a:r>
            <a:endParaRPr lang="en-US" sz="1050"/>
          </a:p>
        </p:txBody>
      </p:sp>
      <p:sp>
        <p:nvSpPr>
          <p:cNvPr id="6" name="TextBox 6"/>
          <p:cNvSpPr txBox="1"/>
          <p:nvPr/>
        </p:nvSpPr>
        <p:spPr>
          <a:xfrm>
            <a:off x="8321040" y="1097280"/>
            <a:ext cx="32004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Output: label_map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today_label -&gt; canonical_label or NEW</a:t>
            </a:r>
            <a:endParaRPr lang="en-US" sz="1050"/>
          </a:p>
        </p:txBody>
      </p:sp>
      <p:cxnSp>
        <p:nvCxnSpPr>
          <p:cNvPr id="7" name="Arrow 7"/>
          <p:cNvCxnSpPr/>
          <p:nvPr/>
        </p:nvCxnSpPr>
        <p:spPr>
          <a:xfrm>
            <a:off x="3794760" y="1691640"/>
            <a:ext cx="68580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8" name="Arrow 8"/>
          <p:cNvCxnSpPr/>
          <p:nvPr/>
        </p:nvCxnSpPr>
        <p:spPr>
          <a:xfrm>
            <a:off x="7680960" y="1691640"/>
            <a:ext cx="640079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sp>
        <p:nvSpPr>
          <p:cNvPr id="9" name="TextBox 9"/>
          <p:cNvSpPr txBox="1"/>
          <p:nvPr/>
        </p:nvSpPr>
        <p:spPr>
          <a:xfrm>
            <a:off x="731520" y="2880360"/>
            <a:ext cx="1060704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</a:rPr>
              <a:t>Recent memory contains:</a:t>
            </a:r>
            <a:endParaRPr lang="en-US" sz="16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canonical_label, story_id, last_seen, summary, delta_summary, and up to three recent article titles.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Candidate generation is still useful: it narrows the expensive verification set. But its decision is not trusted when --verify-story-matches is enabled.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Verifier LLM Payload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0">
                <a:solidFill>
                  <a:srgbClr val="475569"/>
                </a:solidFill>
              </a:rPr>
              <a:t>The full-text verifier only runs for candidate matches, not every article.</a:t>
            </a:r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502920" y="914400"/>
            <a:ext cx="525780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0F766E"/>
                </a:solidFill>
              </a:rPr>
              <a:t>current_articles[]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id, source, title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RSS description, truncated to 1,200 chars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article_date normalized from published_at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reported_at raw timestamp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url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article_text, truncated to 16,000 chars, if fetched/available</a:t>
            </a:r>
            <a:endParaRPr lang="en-US" sz="1050"/>
          </a:p>
        </p:txBody>
      </p:sp>
      <p:sp>
        <p:nvSpPr>
          <p:cNvPr id="5" name="TextBox 5"/>
          <p:cNvSpPr txBox="1"/>
          <p:nvPr/>
        </p:nvSpPr>
        <p:spPr>
          <a:xfrm>
            <a:off x="6217920" y="914400"/>
            <a:ext cx="525780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candidate_story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canonical_label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story_id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last_seen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last_delta, truncated to 240 chars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summary, truncated to 400 chars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recent_titles / recent_articles</a:t>
            </a:r>
            <a:endParaRPr lang="en-US" sz="1050"/>
          </a:p>
        </p:txBody>
      </p:sp>
      <p:sp>
        <p:nvSpPr>
          <p:cNvPr id="6" name="TextBox 6"/>
          <p:cNvSpPr txBox="1"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0">
                <a:solidFill>
                  <a:srgbClr val="475569"/>
                </a:solidFill>
              </a:rPr>
              <a:t>Call metadata: model=gpt-5.4-nano, purpose=match-verify, prompt_version=2026-05-08-v1, response_format=json_object.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Verifier JSON Contract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594360" y="91440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700" b="1">
                <a:solidFill>
                  <a:srgbClr val="1F4E79"/>
                </a:solidFill>
              </a:rPr>
              <a:t>The model must return:</a:t>
            </a:r>
            <a:endParaRPr lang="en-US" sz="17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{ "decisions": [ {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"today_label": "...",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"canonical_label": "...",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"same_event": true | false,</a:t>
            </a:r>
            <a:endParaRPr lang="en-US" sz="1500"/>
          </a:p>
          <a:p>
            <a:pPr marL="0" indent="0">
              <a:buNone/>
            </a:pPr>
            <a:r>
              <a:rPr lang="en-US" sz="1300" b="0">
                <a:solidFill>
                  <a:srgbClr val="111827"/>
                </a:solidFill>
              </a:rPr>
              <a:t>  "relationship": "same_event | same_story_arc | direct_follow_up | adjacent_topic | broader_context | unrelated | uncertain",</a:t>
            </a:r>
            <a:endParaRPr lang="en-US" sz="13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"confidence": "high | medium | low",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"article_dates": ["YYYY-MM-DD"],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"candidate_last_seen": "YYYY-MM-DD",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"continuity_evidence": ["short shared-event evidence"],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  "reject_reason": "..."</a:t>
            </a:r>
            <a:endParaRPr lang="en-US" sz="15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} ] }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Acceptance Gate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200" b="0">
                <a:solidFill>
                  <a:srgbClr val="475569"/>
                </a:solidFill>
              </a:rPr>
              <a:t>The code does not accept the model decision blindly.</a:t>
            </a:r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731520" y="960120"/>
            <a:ext cx="29260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Required 1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today_label and canonical_label must match the supplied case</a:t>
            </a:r>
            <a:endParaRPr lang="en-US" sz="1050"/>
          </a:p>
        </p:txBody>
      </p:sp>
      <p:sp>
        <p:nvSpPr>
          <p:cNvPr id="5" name="TextBox 5"/>
          <p:cNvSpPr txBox="1"/>
          <p:nvPr/>
        </p:nvSpPr>
        <p:spPr>
          <a:xfrm>
            <a:off x="4572000" y="960120"/>
            <a:ext cx="29260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Required 2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same_event must be true</a:t>
            </a:r>
            <a:endParaRPr lang="en-US" sz="1050"/>
          </a:p>
        </p:txBody>
      </p:sp>
      <p:sp>
        <p:nvSpPr>
          <p:cNvPr id="6" name="TextBox 6"/>
          <p:cNvSpPr txBox="1"/>
          <p:nvPr/>
        </p:nvSpPr>
        <p:spPr>
          <a:xfrm>
            <a:off x="8412480" y="960120"/>
            <a:ext cx="29260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Required 3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relationship must be same_event, same_story_arc, or direct_follow_up</a:t>
            </a:r>
            <a:endParaRPr lang="en-US" sz="1050"/>
          </a:p>
        </p:txBody>
      </p:sp>
      <p:sp>
        <p:nvSpPr>
          <p:cNvPr id="7" name="TextBox 7"/>
          <p:cNvSpPr txBox="1"/>
          <p:nvPr/>
        </p:nvSpPr>
        <p:spPr>
          <a:xfrm>
            <a:off x="2057400" y="2743200"/>
            <a:ext cx="329184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Required 4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confidence must be high or medium</a:t>
            </a:r>
            <a:endParaRPr lang="en-US" sz="1050"/>
          </a:p>
        </p:txBody>
      </p:sp>
      <p:sp>
        <p:nvSpPr>
          <p:cNvPr id="8" name="TextBox 8"/>
          <p:cNvSpPr txBox="1"/>
          <p:nvPr/>
        </p:nvSpPr>
        <p:spPr>
          <a:xfrm>
            <a:off x="6537960" y="2743200"/>
            <a:ext cx="329184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Required 5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continuity_evidence must be non-empty</a:t>
            </a:r>
            <a:endParaRPr lang="en-US" sz="1050"/>
          </a:p>
        </p:txBody>
      </p:sp>
      <p:sp>
        <p:nvSpPr>
          <p:cNvPr id="9" name="TextBox 9"/>
          <p:cNvSpPr txBox="1"/>
          <p:nvPr/>
        </p:nvSpPr>
        <p:spPr>
          <a:xfrm>
            <a:off x="960120" y="4617720"/>
            <a:ext cx="43891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</a:rPr>
              <a:t>Accepted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Existing story_id can be reused</a:t>
            </a:r>
            <a:endParaRPr lang="en-US" sz="1050"/>
          </a:p>
        </p:txBody>
      </p:sp>
      <p:sp>
        <p:nvSpPr>
          <p:cNvPr id="10" name="TextBox 10"/>
          <p:cNvSpPr txBox="1"/>
          <p:nvPr/>
        </p:nvSpPr>
        <p:spPr>
          <a:xfrm>
            <a:off x="6400800" y="4617720"/>
            <a:ext cx="43891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B42318"/>
                </a:solidFill>
              </a:rPr>
              <a:t>Rejected / missing / malformed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label_map[today_label] becomes NEW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Persistence and Reporting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85800" y="914400"/>
            <a:ext cx="342900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story_match_decisions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One row per verified candidate match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accepted, same_event, relationship, confidence, evidence, reject_reason</a:t>
            </a:r>
            <a:endParaRPr lang="en-US" sz="1050"/>
          </a:p>
        </p:txBody>
      </p:sp>
      <p:sp>
        <p:nvSpPr>
          <p:cNvPr id="4" name="TextBox 4"/>
          <p:cNvSpPr txBox="1"/>
          <p:nvPr/>
        </p:nvSpPr>
        <p:spPr>
          <a:xfrm>
            <a:off x="4526280" y="914400"/>
            <a:ext cx="342900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0F766E"/>
                </a:solidFill>
              </a:rPr>
              <a:t>stories + articles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Accepted: reuse story_id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Rejected: create/find separate story by today label</a:t>
            </a:r>
            <a:endParaRPr lang="en-US" sz="1050"/>
          </a:p>
        </p:txBody>
      </p:sp>
      <p:sp>
        <p:nvSpPr>
          <p:cNvPr id="5" name="TextBox 5"/>
          <p:cNvSpPr txBox="1"/>
          <p:nvPr/>
        </p:nvSpPr>
        <p:spPr>
          <a:xfrm>
            <a:off x="8366760" y="914400"/>
            <a:ext cx="30632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</a:rPr>
              <a:t>runs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story_match_verifications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story_match_accepts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story_match_rejections</a:t>
            </a:r>
            <a:endParaRPr lang="en-US" sz="1050"/>
          </a:p>
        </p:txBody>
      </p:sp>
      <p:cxnSp>
        <p:nvCxnSpPr>
          <p:cNvPr id="6" name="Arrow 6"/>
          <p:cNvCxnSpPr/>
          <p:nvPr/>
        </p:nvCxnSpPr>
        <p:spPr>
          <a:xfrm>
            <a:off x="4114800" y="1481328"/>
            <a:ext cx="41148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cxnSp>
        <p:nvCxnSpPr>
          <p:cNvPr id="7" name="Arrow 7"/>
          <p:cNvCxnSpPr/>
          <p:nvPr/>
        </p:nvCxnSpPr>
        <p:spPr>
          <a:xfrm>
            <a:off x="7955279" y="1481328"/>
            <a:ext cx="411480" cy="9144"/>
          </a:xfrm>
          <a:prstGeom prst="straightConnector1">
            <a:avLst/>
          </a:prstGeom>
          <a:ln w="25400">
            <a:solidFill>
              <a:srgbClr val="1F4E79"/>
            </a:solidFill>
            <a:head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777240" y="2971800"/>
            <a:ext cx="105613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700" b="1">
                <a:solidFill>
                  <a:srgbClr val="1F4E79"/>
                </a:solidFill>
              </a:rPr>
              <a:t>Operator view:</a:t>
            </a:r>
            <a:endParaRPr lang="en-US" sz="1700"/>
          </a:p>
          <a:p>
            <a:pPr marL="0" indent="0">
              <a:buNone/>
            </a:pPr>
            <a:r>
              <a:rPr lang="en-US" sz="1600" b="0">
                <a:solidFill>
                  <a:srgbClr val="111827"/>
                </a:solidFill>
              </a:rPr>
              <a:t>python -m src.run --verify-story-matches --pipeline-report</a:t>
            </a:r>
            <a:endParaRPr lang="en-US" sz="16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The report adds Story match checks / accepted / rejected alongside LLM calls, tokens, latency, cache hits, schema failures, and claims saved.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Gaza False-Merge Example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40080" y="960120"/>
            <a:ext cx="5120640" cy="13258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B45309"/>
                </a:solidFill>
              </a:rPr>
              <a:t>Existing candidate story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Gaza flotilla raid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Prior memory mentions detained activists and mistreatment allegations.</a:t>
            </a:r>
            <a:endParaRPr lang="en-US" sz="1050"/>
          </a:p>
        </p:txBody>
      </p:sp>
      <p:sp>
        <p:nvSpPr>
          <p:cNvPr id="4" name="TextBox 4"/>
          <p:cNvSpPr txBox="1"/>
          <p:nvPr/>
        </p:nvSpPr>
        <p:spPr>
          <a:xfrm>
            <a:off x="6355080" y="960120"/>
            <a:ext cx="51206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1F4E79"/>
                </a:solidFill>
              </a:rPr>
              <a:t>Current article group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Al Jazeera: Palestinians expose torture and sexual violence in Israeli detention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Article concerns Palestinian detainees generally.</a:t>
            </a:r>
            <a:endParaRPr lang="en-US" sz="1050"/>
          </a:p>
        </p:txBody>
      </p:sp>
      <p:cxnSp>
        <p:nvCxnSpPr>
          <p:cNvPr id="5" name="Arrow 5"/>
          <p:cNvCxnSpPr/>
          <p:nvPr/>
        </p:nvCxnSpPr>
        <p:spPr>
          <a:xfrm>
            <a:off x="5760720" y="1627632"/>
            <a:ext cx="594360" cy="9144"/>
          </a:xfrm>
          <a:prstGeom prst="straightConnector1">
            <a:avLst/>
          </a:prstGeom>
          <a:ln w="25400">
            <a:solidFill>
              <a:srgbClr val="334155"/>
            </a:solidFill>
            <a:head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1005840" y="3063240"/>
            <a:ext cx="4480560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B42318"/>
                </a:solidFill>
              </a:rPr>
              <a:t>Verifier decision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same_event=false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relationship=adjacent_topic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confidence=high</a:t>
            </a:r>
            <a:endParaRPr lang="en-US" sz="1050"/>
          </a:p>
        </p:txBody>
      </p:sp>
      <p:sp>
        <p:nvSpPr>
          <p:cNvPr id="7" name="TextBox 7"/>
          <p:cNvSpPr txBox="1"/>
          <p:nvPr/>
        </p:nvSpPr>
        <p:spPr>
          <a:xfrm>
            <a:off x="6583680" y="3063240"/>
            <a:ext cx="448056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300" b="1">
                <a:solidFill>
                  <a:srgbClr val="2E7D32"/>
                </a:solidFill>
              </a:rPr>
              <a:t>Tracker action</a:t>
            </a:r>
            <a:endParaRPr lang="en-US" sz="130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Do not reuse Gaza flotilla raid story_id</a:t>
            </a:r>
            <a:endParaRPr lang="en-US" sz="1050"/>
          </a:p>
          <a:p>
            <a:pPr marL="0" indent="0">
              <a:buNone/>
            </a:pPr>
            <a:r>
              <a:rPr lang="en-US" sz="1050" b="0">
                <a:solidFill>
                  <a:srgbClr val="111827"/>
                </a:solidFill>
              </a:rPr>
              <a:t>Create/find Israel Detention Abuse story</a:t>
            </a:r>
            <a:endParaRPr lang="en-US" sz="1050"/>
          </a:p>
        </p:txBody>
      </p:sp>
      <p:sp>
        <p:nvSpPr>
          <p:cNvPr id="8" name="TextBox 8"/>
          <p:cNvSpPr txBox="1"/>
          <p:nvPr/>
        </p:nvSpPr>
        <p:spPr>
          <a:xfrm>
            <a:off x="822960" y="48920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The big-picture relationship can still be useful later as a related-story link, but it is not persisted as the same event today.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What To Inspect After A Run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685800" y="914400"/>
            <a:ext cx="1088136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</a:rPr>
              <a:t>Run command:</a:t>
            </a:r>
            <a:endParaRPr lang="en-US" sz="16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python -m src.run --verify-story-matches --pipeline-report</a:t>
            </a:r>
            <a:endParaRPr lang="en-US" sz="1500"/>
          </a:p>
          <a:p>
            <a:pPr marL="0" indent="0">
              <a:buNone/>
            </a:pPr>
            <a:r>
              <a:rPr lang="en-US" sz="1600" b="1">
                <a:solidFill>
                  <a:srgbClr val="1F4E79"/>
                </a:solidFill>
              </a:rPr>
              <a:t>SQLite audit query:</a:t>
            </a:r>
            <a:endParaRPr lang="en-US" sz="1600"/>
          </a:p>
          <a:p>
            <a:pPr marL="0" indent="0">
              <a:buNone/>
            </a:pPr>
            <a:r>
              <a:rPr lang="en-US" sz="1220" b="0">
                <a:solidFill>
                  <a:srgbClr val="111827"/>
                </a:solidFill>
              </a:rPr>
              <a:t>SELECT run_date, today_label, candidate_label, accepted, relationship, confidence, reject_reason FROM story_match_decisions ORDER BY decision_id DESC LIMIT 20;</a:t>
            </a:r>
            <a:endParaRPr lang="en-US" sz="1220"/>
          </a:p>
          <a:p>
            <a:pPr marL="0" indent="0">
              <a:buNone/>
            </a:pPr>
            <a:r>
              <a:rPr lang="en-US" sz="1600" b="1">
                <a:solidFill>
                  <a:srgbClr val="B45309"/>
                </a:solidFill>
              </a:rPr>
              <a:t>Important current limitation:</a:t>
            </a:r>
            <a:endParaRPr lang="en-US" sz="1600"/>
          </a:p>
          <a:p>
            <a:pPr marL="0" indent="0">
              <a:buNone/>
            </a:pPr>
            <a:r>
              <a:rPr lang="en-US" sz="1500" b="0">
                <a:solidFill>
                  <a:srgbClr val="111827"/>
                </a:solidFill>
              </a:rPr>
              <a:t>Verifier decisions are stored for audit but not reused as a cache yet. The next step is building story_match_cases.jsonl from reviewed true/false examples.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600" b="1">
                <a:solidFill>
                  <a:srgbClr val="1F4E79"/>
                </a:solidFill>
              </a:rPr>
              <a:t>Mental Model</a:t>
            </a:r>
            <a:endParaRPr lang="en-US" sz="2600"/>
          </a:p>
        </p:txBody>
      </p:sp>
      <p:sp>
        <p:nvSpPr>
          <p:cNvPr id="3" name="TextBox 3"/>
          <p:cNvSpPr txBox="1"/>
          <p:nvPr/>
        </p:nvSpPr>
        <p:spPr>
          <a:xfrm>
            <a:off x="914400" y="1005840"/>
            <a:ext cx="10424160" cy="4206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>
              <a:buNone/>
            </a:pPr>
            <a:r>
              <a:rPr lang="en-US" sz="2200" b="1">
                <a:solidFill>
                  <a:srgbClr val="1F4E79"/>
                </a:solidFill>
              </a:rPr>
              <a:t>The base matcher asks:</a:t>
            </a:r>
            <a:endParaRPr lang="en-US" sz="2200"/>
          </a:p>
          <a:p>
            <a:pPr marL="0" indent="0">
              <a:buNone/>
            </a:pPr>
            <a:r>
              <a:rPr lang="en-US" sz="2400" b="0">
                <a:solidFill>
                  <a:srgbClr val="111827"/>
                </a:solidFill>
              </a:rPr>
              <a:t>“Which recent story might this label continue?”</a:t>
            </a:r>
            <a:endParaRPr lang="en-US" sz="2400"/>
          </a:p>
          <a:p>
            <a:pPr marL="0" indent="0">
              <a:buNone/>
            </a:pPr>
            <a:r>
              <a:rPr lang="en-US" sz="800" b="0">
                <a:solidFill>
                  <a:srgbClr val="111827"/>
                </a:solidFill>
              </a:rPr>
              <a:t/>
            </a:r>
            <a:endParaRPr lang="en-US" sz="800"/>
          </a:p>
          <a:p>
            <a:pPr marL="0" indent="0">
              <a:buNone/>
            </a:pPr>
            <a:r>
              <a:rPr lang="en-US" sz="2200" b="1">
                <a:solidFill>
                  <a:srgbClr val="0F766E"/>
                </a:solidFill>
              </a:rPr>
              <a:t>The verifier asks:</a:t>
            </a:r>
            <a:endParaRPr lang="en-US" sz="2200"/>
          </a:p>
          <a:p>
            <a:pPr marL="0" indent="0">
              <a:buNone/>
            </a:pPr>
            <a:r>
              <a:rPr lang="en-US" sz="2400" b="0">
                <a:solidFill>
                  <a:srgbClr val="111827"/>
                </a:solidFill>
              </a:rPr>
              <a:t>“Should we actually persist this article group under that existing story_id?”</a:t>
            </a:r>
            <a:endParaRPr lang="en-US" sz="2400"/>
          </a:p>
          <a:p>
            <a:pPr marL="0" indent="0">
              <a:buNone/>
            </a:pPr>
            <a:r>
              <a:rPr lang="en-US" sz="800" b="0">
                <a:solidFill>
                  <a:srgbClr val="111827"/>
                </a:solidFill>
              </a:rPr>
              <a:t/>
            </a:r>
            <a:endParaRPr lang="en-US" sz="800"/>
          </a:p>
          <a:p>
            <a:pPr marL="0" indent="0">
              <a:buNone/>
            </a:pPr>
            <a:r>
              <a:rPr lang="en-US" sz="2200" b="1">
                <a:solidFill>
                  <a:srgbClr val="B42318"/>
                </a:solidFill>
              </a:rPr>
              <a:t>That second question is the trust boundary.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1F4E79"/>
      </a:accent1>
      <a:accent2>
        <a:srgbClr val="0F766E"/>
      </a:accent2>
      <a:accent3>
        <a:srgbClr val="2E7D32"/>
      </a:accent3>
      <a:accent4>
        <a:srgbClr val="B45309"/>
      </a:accent4>
      <a:accent5>
        <a:srgbClr val="B42318"/>
      </a:accent5>
      <a:accent6>
        <a:srgbClr val="475569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Match Verification Flow</dc:title>
  <dc:creator>Codex</dc:creator>
  <cp:lastModifiedBy>Codex</cp:lastModifiedBy>
  <dcterms:created xsi:type="dcterms:W3CDTF">2026-05-07T22:20:59Z</dcterms:created>
  <dcterms:modified xsi:type="dcterms:W3CDTF">2026-05-07T22:20:59Z</dcterms:modified>
</cp:coreProperties>
</file>